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embeddedFontLst>
    <p:embeddedFont>
      <p:font typeface="DM Sans" pitchFamily="2" charset="0"/>
      <p:bold r:id="rId10"/>
    </p:embeddedFont>
    <p:embeddedFont>
      <p:font typeface="JetBrains Mono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04258"/>
            <a:ext cx="6858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1943992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97316"/>
                </a:solidFill>
                <a:latin typeface="JetBrains Mono"/>
              </a:rPr>
              <a:t>AIRWALLEX AGENTIC BANKING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34517"/>
            <a:ext cx="11430000" cy="712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609"/>
              </a:lnSpc>
            </a:pPr>
            <a:r>
              <a:rPr sz="5100" b="1" i="0" u="none">
                <a:solidFill>
                  <a:srgbClr val="F8FAFC"/>
                </a:solidFill>
                <a:latin typeface="Space Grotesk"/>
              </a:rPr>
              <a:t>VeloGuard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99358"/>
            <a:ext cx="82867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>
                <a:solidFill>
                  <a:srgbClr val="CBD5E1"/>
                </a:solidFill>
                <a:latin typeface="Space Grotesk"/>
              </a:rPr>
              <a:t>Intent-Bound Corporate Cards &amp; Pre-Commit Checkout Firewall for AI Agents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05100"/>
            <a:ext cx="5562600" cy="2476500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Why CFOs Refuse to Give AI Agents a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3086100"/>
            <a:ext cx="600075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800" b="1" i="0" u="none">
                <a:solidFill>
                  <a:srgbClr val="E11D48"/>
                </a:solidFill>
                <a:latin typeface="Space Grotesk"/>
              </a:rPr>
              <a:t>$50 → $619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019550"/>
            <a:ext cx="60007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Checkout "Terms Drift"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343400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SaaS checkouts silently flip monthly quotes into annual billing or inject hidden fees right before submit.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0" y="3000375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Static Cards Have No Intent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0" y="3352800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Standard corporate cards only check spending limits, never billing cycles or contract terms.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4076700"/>
            <a:ext cx="54864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Bot Blocking vs. Blind Overspend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4429125"/>
            <a:ext cx="4895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Merchants block raw headless browsers while unguarded agents blindly click through price hikes.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28912"/>
            <a:ext cx="342900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2728912"/>
            <a:ext cx="342900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728912"/>
            <a:ext cx="3429000" cy="2314575"/>
          </a:xfrm>
          <a:prstGeom prst="roundRect">
            <a:avLst>
              <a:gd name="adj" fmla="val 65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071812"/>
            <a:ext cx="3905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071812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3900" y="3071812"/>
            <a:ext cx="3048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02 / 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Decoupling Policy Brain from Browser Hands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605212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1. Intent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147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Locks exact dollar cap, monthly cycle, and merchant MCC before browsing.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605212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2. Ephemeral Visa 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40147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Mints single-use Airwallex card with 120-second TTL and Visa TAP header.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605212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3. DOM-Diff Kill Switch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3900" y="4014787"/>
            <a:ext cx="29908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Freezes Airwallex card via API if checkout DOM drifts from approved 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924175"/>
            <a:ext cx="25622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38525" y="2924175"/>
            <a:ext cx="25622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809875"/>
            <a:ext cx="2562225" cy="2152650"/>
          </a:xfrm>
          <a:prstGeom prst="roundRect">
            <a:avLst>
              <a:gd name="adj" fmla="val 53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43975" y="2924175"/>
            <a:ext cx="2562225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03 / WORKFLOW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4-Stage Autonomous Execution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190875"/>
            <a:ext cx="2678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JetBrains Mono"/>
              </a:rPr>
              <a:t>STEP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552825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Treasury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350" y="3895725"/>
            <a:ext cx="2238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Checks Airwallex wallet liquidity to pick monthly vs annual SaaS terms.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075" y="3190875"/>
            <a:ext cx="2678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F46E5"/>
                </a:solidFill>
                <a:latin typeface="JetBrains Mono"/>
              </a:rPr>
              <a:t>STEP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075" y="3552825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JIT Card Mint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075" y="3895725"/>
            <a:ext cx="2238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Calls Airwallex Issuing API + attaches Visa TAP cryptographic agent proof.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076575"/>
            <a:ext cx="2678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JetBrains Mono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38525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DOM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81425"/>
            <a:ext cx="2238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Claude Vision inspects final checkout screen against signed JSON manifest.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3190875"/>
            <a:ext cx="267890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JetBrains Mono"/>
              </a:rPr>
              <a:t>STEP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3525" y="3552825"/>
            <a:ext cx="2812851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Settle or Freeze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525" y="3895725"/>
            <a:ext cx="2238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Completes checkout and logs to tZERO MCP, or freezes card on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600200"/>
            <a:ext cx="10820400" cy="46101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600200"/>
          <a:ext cx="10820398" cy="4610100"/>
        </p:xfrm>
        <a:graphic>
          <a:graphicData uri="http://schemas.openxmlformats.org/drawingml/2006/table">
            <a:tbl>
              <a:tblPr/>
              <a:tblGrid>
                <a:gridCol w="2584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9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2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Platform / Partner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Specific API / Protocol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DM Sans"/>
                        </a:rPr>
                        <a:t>Role in VeloGuard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Airwallex Issuing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F46E5"/>
                          </a:solidFill>
                          <a:latin typeface="JetBrains Mono"/>
                        </a:rPr>
                        <a:t>POST /issuing/cards &amp; /authorizations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JIT virtual card creation, MCC lock &amp; instant freeze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Airwallex Treasury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F46E5"/>
                          </a:solidFill>
                          <a:latin typeface="JetBrains Mono"/>
                        </a:rPr>
                        <a:t>GET /balances/current &amp; /fx/quotes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Pre-purchase wallet check &amp; multi-currency sizing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Visa Intelligent Commerce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Trusted Access Protocol (TAP) + VIC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Cryptographic proof of delegated agent authority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Anthropic Claude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Claude 3.7 Sonnet + Computer Use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Contract policy reasoning &amp; live checkout DOM diffing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tZERO Accounting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tZERO MCP Server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Automated invoice ingestion &amp; real-time ledger entry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04 / TECHNICAL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Airwallex APIs &amp; Sponsor Integrations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05 / DETERMINISTIC SAFETY GUARDRAIL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Hard-Coded Protection Before Settlement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8500" y="2824162"/>
            <a:ext cx="5715000" cy="1104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8700"/>
              </a:lnSpc>
            </a:pPr>
            <a:r>
              <a:rPr sz="8700" b="1" i="0" u="none">
                <a:solidFill>
                  <a:srgbClr val="0F172A"/>
                </a:solidFill>
                <a:latin typeface="Space Grotesk"/>
              </a:rPr>
              <a:t>&lt; 200ms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6531" y="4119562"/>
            <a:ext cx="673893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1" i="0" u="none">
                <a:solidFill>
                  <a:srgbClr val="0F172A"/>
                </a:solidFill>
                <a:latin typeface="DM Sans"/>
              </a:rPr>
              <a:t>Automated Airwallex Card Freeze on Terms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4491037"/>
            <a:ext cx="8096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DM Sans"/>
              </a:rPr>
              <a:t>If final checkout price or billing cadence deviates by even $0.01 from the approved IntentManifest, the card is revoked before authorization.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52712"/>
            <a:ext cx="521970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652712"/>
            <a:ext cx="5219700" cy="2543175"/>
          </a:xfrm>
          <a:prstGeom prst="roundRect">
            <a:avLst>
              <a:gd name="adj" fmla="val 599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33400"/>
            <a:ext cx="115062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F46E5"/>
                </a:solidFill>
                <a:latin typeface="JetBrains Mono"/>
              </a:rPr>
              <a:t>06 /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81050"/>
            <a:ext cx="115062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Standard Spend Bots vs. VeloGuard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2995612"/>
            <a:ext cx="595074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64748B"/>
                </a:solidFill>
                <a:latin typeface="Space Grotesk"/>
              </a:rPr>
              <a:t>Typical Hackathon Spend 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95612"/>
            <a:ext cx="5562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4F46E5"/>
                </a:solidFill>
                <a:latin typeface="Space Grotesk"/>
              </a:rPr>
              <a:t>VeloGuard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3481387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DM Sans"/>
              </a:rPr>
              <a:t>Static Limits: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Only checks total dollar cap.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862387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DM Sans"/>
              </a:rPr>
              <a:t>Blind Checkout: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Ignores dark-pattern annual toggles.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4243387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DM Sans"/>
              </a:rPr>
              <a:t>Bot Flagged: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Blocked by merchant anti-bot walls.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4624387"/>
            <a:ext cx="5667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DM Sans"/>
              </a:rPr>
              <a:t>Post-Mortem Alerts: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Warns CFO after money is gone.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81387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DM Sans"/>
              </a:rPr>
              <a:t>Intent-Bound:</a:t>
            </a:r>
            <a:r>
              <a:rPr sz="1350" b="0" i="0" u="none">
                <a:solidFill>
                  <a:srgbClr val="0F172A"/>
                </a:solidFill>
                <a:latin typeface="DM Sans"/>
              </a:rPr>
              <a:t> Enforces cycle, seat count, and TTL.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862387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DM Sans"/>
              </a:rPr>
              <a:t>DOM-Diff Firewall:</a:t>
            </a:r>
            <a:r>
              <a:rPr sz="1350" b="0" i="0" u="none">
                <a:solidFill>
                  <a:srgbClr val="0F172A"/>
                </a:solidFill>
                <a:latin typeface="DM Sans"/>
              </a:rPr>
              <a:t> Catches price jumps pre-submit.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43387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DM Sans"/>
              </a:rPr>
              <a:t>Visa TAP Verified:</a:t>
            </a:r>
            <a:r>
              <a:rPr sz="1350" b="0" i="0" u="none">
                <a:solidFill>
                  <a:srgbClr val="0F172A"/>
                </a:solidFill>
                <a:latin typeface="DM Sans"/>
              </a:rPr>
              <a:t> Cryptographic merchant handshake.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624387"/>
            <a:ext cx="5562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DM Sans"/>
              </a:rPr>
              <a:t>Pre-Commit Freeze:</a:t>
            </a:r>
            <a:r>
              <a:rPr sz="1350" b="0" i="0" u="none">
                <a:solidFill>
                  <a:srgbClr val="0F172A"/>
                </a:solidFill>
                <a:latin typeface="DM Sans"/>
              </a:rPr>
              <a:t> Halts card before settlement.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45843" y="2271712"/>
            <a:ext cx="2500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F97316"/>
                </a:solidFill>
                <a:latin typeface="JetBrains Mono"/>
              </a:rPr>
              <a:t>READY FOR BUILD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77035" y="2624137"/>
            <a:ext cx="3437929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Space Grotesk"/>
              </a:rPr>
              <a:t>VeloGuard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490912"/>
            <a:ext cx="8096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CBD5E1"/>
                </a:solidFill>
                <a:latin typeface="DM Sans"/>
              </a:rPr>
              <a:t>Autonomous SaaS procurement with cryptographic intent and zero-drift Airwallex virtual card controls.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482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Space Grotesk</vt:lpstr>
      <vt:lpstr>Calibri</vt:lpstr>
      <vt:lpstr>DM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Manasa Kaza</cp:lastModifiedBy>
  <cp:revision>2</cp:revision>
  <dcterms:created xsi:type="dcterms:W3CDTF">2013-01-27T09:14:16Z</dcterms:created>
  <dcterms:modified xsi:type="dcterms:W3CDTF">2026-10-25T01:44:19Z</dcterms:modified>
  <cp:category/>
</cp:coreProperties>
</file>